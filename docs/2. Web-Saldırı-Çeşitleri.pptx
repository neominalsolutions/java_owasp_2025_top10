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7b09bb7a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57b09bb7a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/>
              <a:t>https://medium.com/devopsturkiye/asp-net-core-uygulamalar%C4%B1nda-http-security-headers-ile-g%C3%BCvenli%C4%9Fi-art%C4%B1rmak-bfbd48bcd4e7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system.io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tr" sz="2800"/>
              <a:t>WEB Uygulama Saldırı Çeşitleri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55947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Web Uygulamalarında Saldırı Çeşitleri</a:t>
            </a:r>
            <a:endParaRPr sz="2800"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9450" y="1374550"/>
            <a:ext cx="7848900" cy="3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tr" sz="1400">
                <a:solidFill>
                  <a:srgbClr val="000000"/>
                </a:solidFill>
              </a:rPr>
              <a:t>Brute Force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tr" sz="1400">
                <a:solidFill>
                  <a:srgbClr val="000000"/>
                </a:solidFill>
              </a:rPr>
              <a:t>DDOS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tr" sz="1400">
                <a:solidFill>
                  <a:srgbClr val="000000"/>
                </a:solidFill>
              </a:rPr>
              <a:t>XSS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tr" sz="1400">
                <a:solidFill>
                  <a:srgbClr val="000000"/>
                </a:solidFill>
              </a:rPr>
              <a:t>CSRF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tr" sz="1400">
                <a:solidFill>
                  <a:srgbClr val="000000"/>
                </a:solidFill>
              </a:rPr>
              <a:t>SQL Injection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tr" sz="1400">
                <a:solidFill>
                  <a:srgbClr val="000000"/>
                </a:solidFill>
              </a:rPr>
              <a:t>Broken Authentication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tr" sz="1400">
                <a:solidFill>
                  <a:srgbClr val="000000"/>
                </a:solidFill>
              </a:rPr>
              <a:t>Broken Access Control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</a:pPr>
            <a:r>
              <a:rPr lang="tr" sz="1400">
                <a:solidFill>
                  <a:schemeClr val="dk2"/>
                </a:solidFill>
              </a:rPr>
              <a:t>Security Misconfiguration Attacks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tr" sz="1400">
                <a:solidFill>
                  <a:schemeClr val="dk2"/>
                </a:solidFill>
              </a:rPr>
              <a:t>Sensitive Data Exposure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tr" sz="1400">
                <a:solidFill>
                  <a:srgbClr val="000000"/>
                </a:solidFill>
              </a:rPr>
              <a:t>Session Hijacking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tr" sz="1400">
                <a:solidFill>
                  <a:schemeClr val="dk2"/>
                </a:solidFill>
              </a:rPr>
              <a:t>Components With Vulnerabilities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328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Brute Force Saldırıları </a:t>
            </a:r>
            <a:endParaRPr sz="2800"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183925" y="1404125"/>
            <a:ext cx="8661600" cy="3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</a:rPr>
              <a:t>Bir saldırganın, bir şifre veya güvenlik sistemini kırmak amacıyla olası tüm kombinasyonları deneyerek çözmeye çalıştığı bir saldırı yöntemidir.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</a:rPr>
              <a:t>Zaman alıcıdır</a:t>
            </a:r>
            <a:r>
              <a:rPr lang="tr" sz="1400">
                <a:solidFill>
                  <a:srgbClr val="000000"/>
                </a:solidFill>
              </a:rPr>
              <a:t>: Şifrenin uzunluğu ve karmaşıklığı arttıkça brute force saldırısının başarılı olma süresi uzar.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</a:rPr>
              <a:t>Şifre güvenliği ile doğrudan ilişkilidir</a:t>
            </a:r>
            <a:r>
              <a:rPr lang="tr" sz="1400">
                <a:solidFill>
                  <a:srgbClr val="000000"/>
                </a:solidFill>
              </a:rPr>
              <a:t>: Kısa ve basit şifreler brute force saldırısına daha açıktır.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9075" y="2940874"/>
            <a:ext cx="5049400" cy="16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2161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r"/>
              <a:t>Brute Force Saldırılarından Korunma Yöntemleri 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815000" y="1362425"/>
            <a:ext cx="78489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tr" sz="1400">
                <a:solidFill>
                  <a:schemeClr val="dk2"/>
                </a:solidFill>
              </a:rPr>
              <a:t>Güçlü Şifre Kullanmak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tr" sz="1400">
                <a:solidFill>
                  <a:schemeClr val="dk2"/>
                </a:solidFill>
              </a:rPr>
              <a:t>Hesap Kilitleme (Account Lockout)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</a:rPr>
              <a:t>İki Faktörlü Kimlik Doğrulama (2FA):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tr" sz="1400">
                <a:solidFill>
                  <a:srgbClr val="000000"/>
                </a:solidFill>
              </a:rPr>
              <a:t>Şifreyi Düzenli Olarak Değiştirme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tr" sz="1400">
                <a:solidFill>
                  <a:srgbClr val="000000"/>
                </a:solidFill>
              </a:rPr>
              <a:t>Captcha ve Benzeri Koruma Sistemleri Kullanmak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tr" sz="1400">
                <a:solidFill>
                  <a:srgbClr val="000000"/>
                </a:solidFill>
              </a:rPr>
              <a:t>Şifre Deneme Sınırı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tr" sz="1400">
                <a:solidFill>
                  <a:srgbClr val="000000"/>
                </a:solidFill>
              </a:rPr>
              <a:t>Şifre Hashing (Şifre Karma) ve Salt Kullanmak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tr" sz="1400">
                <a:solidFill>
                  <a:srgbClr val="000000"/>
                </a:solidFill>
              </a:rPr>
              <a:t>VPN ve IP Filtreleme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55207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r"/>
              <a:t>Broken Authentication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663475" y="1304775"/>
            <a:ext cx="8289000" cy="3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imlik doğrulama mekanizmalarının zayıf veya hatalı uygulanması sonucu  yetkisiz kullanıcıların 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hesaplara erişebilmesidir.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b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Güçlü parola politikaları kullan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Çok faktörlü kimlik doğrulama (2FA) uygula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Oturumları </a:t>
            </a: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zamanaşımı ile</a:t>
            </a: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sınırla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Hassas bilgileri (şifre, token) güvenli sakla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Oturum çalma ve tahmin etmeye karşı koruma sağla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7" title="Broken-Auhtentication-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500" y="1738225"/>
            <a:ext cx="4249950" cy="129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6555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189"/>
              <a:buNone/>
            </a:pPr>
            <a:r>
              <a:rPr lang="tr" sz="3100"/>
              <a:t>Broken Access Control</a:t>
            </a:r>
            <a:r>
              <a:rPr lang="tr"/>
              <a:t>	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95975" y="1288125"/>
            <a:ext cx="4379700" cy="26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</a:rPr>
              <a:t>K</a:t>
            </a:r>
            <a:r>
              <a:rPr lang="tr" sz="1400">
                <a:solidFill>
                  <a:schemeClr val="dk2"/>
                </a:solidFill>
              </a:rPr>
              <a:t>ullanıcıların normalde girmemeleri gereken kaynaklara veya işlevlere yetkisiz olarak erişimlerine olanak tanır.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RBAC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ABAC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 Based Access Control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Principle of Least Privilege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119" name="Google Shape;119;p18" title="broken-access-contro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350" y="1239050"/>
            <a:ext cx="3764325" cy="2430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581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XSS Attacks	</a:t>
            </a:r>
            <a:endParaRPr sz="2800"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63800" y="1277100"/>
            <a:ext cx="4381800" cy="3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Kötü niyetli kişilerin bir web uygulamasına </a:t>
            </a: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zararlı script (JavaScript)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enjekte ederek kullanıcıların tarayıcılarında bu scripti çalıştırmasını sağladığı bir </a:t>
            </a: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güvenlik açığıdır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Validation (Girdi Doğrulama)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Encoding / Output Encoding (Çıkışta Kodlama)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Sanitization (Temizleme)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Security Policy (CSP)</a:t>
            </a:r>
            <a:endParaRPr sz="1400"/>
          </a:p>
        </p:txBody>
      </p:sp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0887" y="1348375"/>
            <a:ext cx="3808125" cy="21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XSS Attacks	</a:t>
            </a:r>
            <a:endParaRPr sz="280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Reflected XSS (Yansıtılan XSS)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Arama kutuları veya URL parametreleri üzerinden gerçekleşebilir.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Stored XSS (Depolanan XSS)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Günümüzde client uygulamanın storage (local,session ve cookies) gibi alanlarındaki bilgilerin javascript ile çalınması.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DOM-based XSS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Kullanıcı girdileri, JavaScript tarafından DOM’da işlenir.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60382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DDOS Attacks	</a:t>
            </a:r>
            <a:endParaRPr sz="2800"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72225" y="1341025"/>
            <a:ext cx="3956400" cy="28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DDoS (Distributed Denial of Service) saldırıları, bir hizmet veya sunucuya yönelik olarak yapılan ve hizmetin normal işlevselliğini bozmaya veya kullanılamaz hale getirmeye yönelik saldırı türüdür.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/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700" y="1201300"/>
            <a:ext cx="4449700" cy="22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68510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r"/>
              <a:t>DDOS Attacks	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72225" y="1441200"/>
            <a:ext cx="7688700" cy="30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Volumetric Attacks (Hacimsel Saldırılar)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Bu saldırı türünde, saldırganlar hedeflenen hizmete yoğun miktarda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 trafiği gönderirler. Bu, hedef hizmetin ağ bant genişliğini tüketerek normal trafik geçişini engeller.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 Attacks (Protokol Saldırıları)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Bu tür saldırılarda, saldırganlar hedef hizmetin protokol işleme kapasitesini aşmak için protokolün zayıf yönlerinden yararlanır. Örneğin, TCP SYN veya UDP saldırıları gibi.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Layer Attacks (Uygulama Katmanı Saldırıları)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Bu saldırılar, hedeflenen uygulamanın kaynaklarını tüketmek için uygulama katmanında (HTTP, HTTPS, DNS gibi) yürütülür. Örneğin, HTTP GET veya POST isteği bombardımanı gibi.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648150" y="-41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DDOS Attacks	</a:t>
            </a:r>
            <a:endParaRPr sz="2800"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7650" y="1502450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Rate Limiting &amp; Throttling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Whitelisting/Blacklisting (IP Beyaz/Beyaz Listeleme)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Geolocation Filtering (Coğrafi Konum Filtreleme)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Güvenlik Duvarları ve Web Uygulama Güvenlik Duvarları (WAF)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66292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r"/>
              <a:t>Security Misconfiguration Attacks</a:t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662925" y="2303350"/>
            <a:ext cx="78579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ygulamaların veya sistemlerin güvenlik ayarlarının </a:t>
            </a:r>
            <a:r>
              <a:rPr b="1" lang="tr" sz="14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doğru yapılandırılmaması</a:t>
            </a: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veya </a:t>
            </a:r>
            <a:r>
              <a:rPr b="1" lang="tr" sz="14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eksik kalması</a:t>
            </a:r>
            <a:r>
              <a:rPr lang="tr" sz="14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sonucu ortaya çıkan bir güvenlik açığı türüdür. 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Varsayılan Ayarları Kapat / Değiştir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Yetki İlkesi (Least Privilege) Uygula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Yapılandırma Dosyalarını Erişimi Kısıtla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Debug ve Hata Mesajlarını Kapat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Yapılandırma Ayarlarını Güvenli Ortamlarda Sakla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4" title="SecMisconfig2-A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225" y="574625"/>
            <a:ext cx="4762876" cy="17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61860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r"/>
              <a:t>Security Misconfiguration Attacks (ZIP SLIP)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744225" y="1406375"/>
            <a:ext cx="7806000" cy="31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5"/>
              <a:buNone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ötü niyetli kullanıcıların bir ZIP dosyasının içindeki dosya yolunu manipüle ederek, uygulamanın izin verilmeyen dosyaları çıkarmasına veya üzerine yazmasına olanak tanıyan bir güvenlik açığıdır.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Dosya yollarını doğrula (path traversal kontrolü yap)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Zip içeriğini açmadan önce tarayıp analiz et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Kullanıcıdan gelen ZIP dosyaları üzerinde sınır ve filtre uygula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Güvenli kütüphaneler kullan (örneğin Java’da Zip4j gibi, .Net5+ </a:t>
            </a:r>
            <a:r>
              <a:rPr lang="tr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System.IO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.Compression)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Antivirüs ve DLP </a:t>
            </a: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(Data Loss Prevention)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çözümleri ile entegrasyon sağla. Karantina sunucu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0822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Security Headers</a:t>
            </a:r>
            <a:endParaRPr sz="2800"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823875" y="13572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Secure </a:t>
            </a: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 Headers kullanımı uygulamaların güvenlik seviyelerini artırır ve Security Misconfiguration Attacks gibi saldırılara karşı koruma sağlar. 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Her uygulama için uygun yapılandırma, güvenlik politikaları ve kontroller sağlanmalıdır. 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Ayrıca, bu başlıkların doğru şekilde yapılandırılması ve düzenli olarak güncellenmesi de önemlidir, çünkü saldırı teknikleri zamanla evrilebilir ve yeni güvenlik zafiyetleri keşfedilebilir.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162550" y="0"/>
            <a:ext cx="8211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Security Headers</a:t>
            </a:r>
            <a:endParaRPr sz="2800"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729450" y="1545475"/>
            <a:ext cx="7934400" cy="28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Strict-Transport-Security (HSTS)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Content-Security-Policy (CSP)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X-Content-Type-Options: nosniff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X-Frame-Options: deny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X-Xss-Protection:mode:block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Feature-Policy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Referrer-Policy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73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47817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>
                <a:latin typeface="Arial"/>
                <a:ea typeface="Arial"/>
                <a:cs typeface="Arial"/>
                <a:sym typeface="Arial"/>
              </a:rPr>
              <a:t>Security Headers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729438" y="1406375"/>
            <a:ext cx="7934400" cy="28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7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X-Powered-By-Header: 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 yanıtlarında sunucunun veya uygulamanın hangi teknoloji veya platform tarafından desteklendiğini belirten bir HTTP başlığıdır.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7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Arial"/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Header: 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HTTP yanıtlarında sunucunun kullandığı yazılım veya platformu belirten bir HTTP başlığıdır. Bu başlık, istemciler (tarayıcılar, mobil uygulamalar vb.) ile sunucu arasındaki iletişim sırasında sunucu tarafından otomatik olarak eklenir.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5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67772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CSRF Attacks</a:t>
            </a:r>
            <a:endParaRPr sz="2800"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759000" y="1472900"/>
            <a:ext cx="4288800" cy="30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 saldırı türü, bir kullanıcının tarayıcısında oturum açıkken, kötü niyetli bir saldırganın kontrolünde olan başka bir web sitesinde istenmeyen işlemlerin gerçekleştirilmesini amaçlar.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b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CSRF Token Kullanımı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SameSite Cookie Policy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 Only Cookie</a:t>
            </a:r>
            <a:endParaRPr b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7862" y="1441200"/>
            <a:ext cx="3832388" cy="226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56687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Sensitive Data Exposure</a:t>
            </a:r>
            <a:endParaRPr sz="2800"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758375" y="1308050"/>
            <a:ext cx="6252000" cy="3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Web uygulamalarında hassas veya gizli olarak kabul edilen verilerin, yetkisiz kişiler veya süreçler tarafından erişilebilir hale gelmesinden kaynaklanan bir güvenlik açığıdır.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b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Verileri depolarken güçlü algoritmalarla (AES-256 gibi) şifrele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Veri tabanı yedekleri, loglar ve hata mesajlarında hassas veri bulundurma.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Güvenli anahtar yönetimi kullan (örn. AWS KMS, Azure Key Vault).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Hassas veri içeren dosya ve ortam değişkenlerine erişimi sınırla.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İstemci tarafında (browser, localStorage) hassas veri tutmaktan kaçın.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2571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Session Hijacking</a:t>
            </a:r>
            <a:endParaRPr sz="2800"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782900" y="1362400"/>
            <a:ext cx="80946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Bir kullanıcının aktif oturumunu (session) ele geçirerek yetkisiz 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şekilde o kullanıcı gibi sisteme erişme saldırısıdır.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b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SSL/TLS kullanımı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Secure HttpOnly Cookie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Oturum Sürelerini </a:t>
            </a: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Kısaltma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Hesap Kitleme (Account Lockout) Mekanizmaları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Session Expire Mekanizmaları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/>
          </a:p>
        </p:txBody>
      </p:sp>
      <p:pic>
        <p:nvPicPr>
          <p:cNvPr id="202" name="Google Shape;202;p31" title="session_hijacking_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8200" y="1034688"/>
            <a:ext cx="2697150" cy="351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255975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tr" sz="2800"/>
              <a:t>Session Hijacking Türleri</a:t>
            </a:r>
            <a:endParaRPr sz="2800"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729450" y="1507575"/>
            <a:ext cx="7977000" cy="3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</a:rPr>
              <a:t>Session Fixation (Oturum Sabitleme)</a:t>
            </a:r>
            <a:r>
              <a:rPr lang="tr" sz="1400">
                <a:solidFill>
                  <a:srgbClr val="000000"/>
                </a:solidFill>
              </a:rPr>
              <a:t>: Bu tür saldırıda, saldırgan, kurbanı belirli bir oturum kimliğiyle oturum açmaya zorlar. Saldırgan, oturum kimliğini daha önce oluşturmuş ve kurbana göndermiştir.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</a:rPr>
              <a:t>Session Sidejacking</a:t>
            </a:r>
            <a:r>
              <a:rPr lang="tr" sz="1400">
                <a:solidFill>
                  <a:srgbClr val="000000"/>
                </a:solidFill>
              </a:rPr>
              <a:t>: Saldırgan HTTP bağlantıları üzerinden iletilen session ID'leri </a:t>
            </a:r>
            <a:r>
              <a:rPr b="1" lang="tr" sz="1400">
                <a:solidFill>
                  <a:srgbClr val="000000"/>
                </a:solidFill>
              </a:rPr>
              <a:t>sniffing </a:t>
            </a:r>
            <a:r>
              <a:rPr lang="tr" sz="1400">
                <a:solidFill>
                  <a:srgbClr val="000000"/>
                </a:solidFill>
              </a:rPr>
              <a:t>yöntemi ile yakalar.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rgbClr val="000000"/>
                </a:solidFill>
              </a:rPr>
              <a:t>Cross-Site Scripting (XSS) ile Oturum Kaçırma</a:t>
            </a:r>
            <a:r>
              <a:rPr lang="tr" sz="1400">
                <a:solidFill>
                  <a:srgbClr val="000000"/>
                </a:solidFill>
              </a:rPr>
              <a:t>: </a:t>
            </a:r>
            <a:r>
              <a:rPr lang="tr" sz="1400">
                <a:solidFill>
                  <a:srgbClr val="000000"/>
                </a:solidFill>
              </a:rPr>
              <a:t>Saldırgan, XSS açığı olan bir siteye zararlı JavaScript kodu enjekte eder ve kendine Session bilgisini iletir. 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/>
          </a:p>
        </p:txBody>
      </p:sp>
      <p:pic>
        <p:nvPicPr>
          <p:cNvPr id="209" name="Google Shape;209;p32" title="SessionHijackin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400" y="4373100"/>
            <a:ext cx="3804373" cy="667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5742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r"/>
              <a:t>Using Components With Vulnerabilities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723250" y="1320775"/>
            <a:ext cx="8130300" cy="3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Uygulamanın geliştirilmesinde kullanılan 3rd  güvenlik açıklarını 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istismar etme yöntemi.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Nasıl Engellerim?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Güncel Kütüphaneler ve Paketler Kullan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Zafiyet Taraması Yapan Araçlar Kullan </a:t>
            </a:r>
            <a:r>
              <a:rPr b="1"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(Synk, OWASP Dependency-Check, npm audit, yarn audit, pip-audit)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Kütüphane versiyonlarını net olarak tanımla  (flask==2.3.2 )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İhtiyaç Duyulmayan 3rd Bileşenleri Uygulamadan Kaldır.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CI/CD Süreçlerine Otomatik Güvenlik Kontrolleri Dahil Et 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t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Yaygın CVE ve Güvenlik Veritabanlarını Takip Et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/>
          </a:p>
        </p:txBody>
      </p:sp>
      <p:pic>
        <p:nvPicPr>
          <p:cNvPr id="216" name="Google Shape;216;p33" title="remote-code-execution-vulnerable-component-ex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5625" y="750350"/>
            <a:ext cx="3143000" cy="165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